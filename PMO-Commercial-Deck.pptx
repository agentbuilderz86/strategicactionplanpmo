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>
              <a:alpha val="9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01168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PMO</a:t>
            </a:r>
            <a:endParaRPr lang="en-US" sz="9600" dirty="0"/>
          </a:p>
        </p:txBody>
      </p:sp>
      <p:sp>
        <p:nvSpPr>
          <p:cNvPr id="4" name="Text 2"/>
          <p:cNvSpPr/>
          <p:nvPr/>
        </p:nvSpPr>
        <p:spPr>
          <a:xfrm>
            <a:off x="457200" y="32004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E8EC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Pilotage de Plan d'Action Stratégique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57200" y="3840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9CA3AF"/>
                </a:solidFill>
              </a:rPr>
              <a:t>Multi-pays • Collaboratif • Intelligent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2743200" y="4572000"/>
            <a:ext cx="3657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3CFE2"/>
                </a:solidFill>
              </a:rPr>
              <a:t>Solution PMO clé en main pour gouvernance stratégique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Le Défi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280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❌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280160" y="12801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Dispersion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291840" y="128016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Actions dispersées dans des silos, sans vision d'ensemble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48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⏱️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280160" y="214884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Délais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291840" y="214884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Retards détectés trop tard, après que les dégâts soient faits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👥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280160" y="30175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Collaboration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291840" y="301752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Manque de visibilité entre régions et partenaires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31520" y="38862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280160" y="38862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Reporting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291840" y="388620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B5563"/>
                </a:solidFill>
              </a:rPr>
              <a:t>Rapports manuels et lents, données peu fiables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Notre Solution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2801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2801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Centralisation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474720" y="128016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Toutes les actions en un seul endroit, hiérarchisées et codifiées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2148840"/>
            <a:ext cx="320040" cy="320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280160" y="21488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Visibilité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74720" y="214884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Dashboard en temps réel avec KPIs et heatmap multi-niveaux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3017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30175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Collaboration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74720" y="30175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Commentaires, validations, notifications automatiques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3886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280160" y="38862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Intelligence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474720" y="3886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</a:rPr>
              <a:t>Analyses croisées, reportings automatisés, tendances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</a:rPr>
              <a:t>Dashboard Exécutif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Vue exécutive des KPIs et avancement du plan en temps réel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</a:rPr>
              <a:t>Plan d'Actions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Gestion complète de l'arborescence : création, édition, import/export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1F2937"/>
                </a:solidFill>
              </a:rPr>
              <a:t>Analyses Multi-Axes</a:t>
            </a:r>
            <a:endParaRPr lang="en-US" sz="4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8229600" cy="54864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9144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280"/>
                </a:solidFill>
              </a:rPr>
              <a:t>Pivot dynamique par région, pôle, axe, priorité avec drill-down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Caractéristiques Principales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18872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Arborescence hiérarchique (5+ niveaux) avec codification automatique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31520" y="151790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Snapshots d'avancement pour suivi de tendance multi-niveaux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84708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Attributs personnalisables par type de plan et niveau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31520" y="217627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Indicateurs multi-lignes avec consolidation ascendante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31520" y="250545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Gestion des alertes et rappels automatiques d'échéances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" y="2834640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Workflows de validation hiérarchique et audit complet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31520" y="3163824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Export CSV/Excel + Import avec validation et rapports d'erreurs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3493008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Reporting budgétaire avancé (Synthèse, par axe, par région)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31520" y="3822192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Habilitations fines (lecture/saisie/validation/reporting)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" y="4151376"/>
            <a:ext cx="7955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✓ API v1 versionnée + jetons Bearer pour interopérabilité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Conformité &amp; Sécurité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Conformité CPS n°15 NARSA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28600" cy="2286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69164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Conformes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560320" y="169164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</a:rPr>
              <a:t>23/32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11680"/>
            <a:ext cx="228600" cy="2286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20116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En cours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560320" y="201168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</a:rPr>
              <a:t>6/32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331720"/>
            <a:ext cx="228600" cy="22860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2331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À décider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331720"/>
            <a:ext cx="10972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</a:rPr>
              <a:t>3/32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11887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667EEA"/>
                </a:solidFill>
              </a:rPr>
              <a:t>Sécurité Enterprise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37760" y="16916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🔐 JWT + bcrypt (coût 12)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937760" y="196596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🔒 Politique MDP forte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937760" y="224028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👥 Habilitations fines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937760" y="251460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📋 Audit complet (connexions/actions)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937760" y="27889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🛡️  Headers sécurité (HSTS, CSP)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✅ OWASP Top 10 (en cours)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9FA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Stack Technologique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188720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2697480" y="1188720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Next.js 14, React 18, TypeScript, Tailwind CSS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536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Visualisation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97480" y="1536192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Recharts, D3.js, SVG custom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1883664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8836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Backend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2697480" y="1883664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Node.js 20, Route Handlers, Prisma ORM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2231136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22311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Base de données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2231136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PostgreSQL 16 (Neon/Supabase)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578608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5786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Authentification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2697480" y="2578608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NextAuth 4.x (JWT), bcryptjs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48640" y="2926080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29260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2697480" y="2926080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Zod, react-hook-form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273552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327355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2697480" y="3273552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Vitest, TypeScript strict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48640" y="3621024"/>
            <a:ext cx="2011680" cy="25603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26" name="Text 24"/>
          <p:cNvSpPr/>
          <p:nvPr/>
        </p:nvSpPr>
        <p:spPr>
          <a:xfrm>
            <a:off x="548640" y="362102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Déploiement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2697480" y="3621024"/>
            <a:ext cx="5989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</a:rPr>
              <a:t>Netlify, serverless, CI/CD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Valeur &amp; Impact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280160"/>
            <a:ext cx="26517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📈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+80%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Taux de mise à jour hebdomadaire attendu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83280" y="1280160"/>
            <a:ext cx="26517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⏱️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65760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-60%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56616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Temps de détection des dérives réduit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1280160"/>
            <a:ext cx="26517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👥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492240" y="19202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100%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400800" y="24231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Visibilité multi-niveaux et multi-pays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08960"/>
            <a:ext cx="26517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296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📊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82296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-70%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Effort de reporting manuel réduit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383280" y="3108960"/>
            <a:ext cx="26517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🚀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365760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4-6 sem</a:t>
            </a:r>
            <a:endParaRPr lang="en-US" sz="2400" dirty="0"/>
          </a:p>
        </p:txBody>
      </p:sp>
      <p:sp>
        <p:nvSpPr>
          <p:cNvPr id="23" name="Text 21"/>
          <p:cNvSpPr/>
          <p:nvPr/>
        </p:nvSpPr>
        <p:spPr>
          <a:xfrm>
            <a:off x="356616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Déploiement &amp; mise en exploitation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17920" y="3108960"/>
            <a:ext cx="2651760" cy="164592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32918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000000"/>
                </a:solidFill>
              </a:rPr>
              <a:t>✅</a:t>
            </a:r>
            <a:endParaRPr lang="en-US" sz="3200" dirty="0"/>
          </a:p>
        </p:txBody>
      </p:sp>
      <p:sp>
        <p:nvSpPr>
          <p:cNvPr id="26" name="Text 24"/>
          <p:cNvSpPr/>
          <p:nvPr/>
        </p:nvSpPr>
        <p:spPr>
          <a:xfrm>
            <a:off x="6492240" y="374904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67EEA"/>
                </a:solidFill>
              </a:rPr>
              <a:t>71%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6400800" y="425196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B5563"/>
                </a:solidFill>
              </a:rPr>
              <a:t>Conformité fonctionnelle jour 1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F2937"/>
                </a:solidFill>
              </a:rPr>
              <a:t>Roadmap - 3 Horizons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73152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2743200" cy="45720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Horizon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2880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4-6 semaines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67EEA"/>
                </a:solidFill>
              </a:rPr>
              <a:t>Expérience &amp; Quick Wins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Vue "Ma journée" par rôle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24048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Check-in hebdomadaire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94360" y="26609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Command palette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94360" y="29169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Inline editing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83280" y="1188720"/>
            <a:ext cx="2743200" cy="457200"/>
          </a:xfrm>
          <a:prstGeom prst="rect">
            <a:avLst/>
          </a:prstGeom>
          <a:solidFill>
            <a:srgbClr val="764BA2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Horizon 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6-10 semaines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64BA2"/>
                </a:solidFill>
              </a:rPr>
              <a:t>Moteur d'Insights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52044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Score de risque explicable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520440" y="24048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Centre d'alertes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520440" y="26609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Digest hebdo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520440" y="29169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Seuils configurables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309360" y="1188720"/>
            <a:ext cx="2743200" cy="4572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630936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Horizon 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7680960" y="123444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8-12 semaines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178308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Populations &amp; Adoption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2148840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Module Population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446520" y="2404872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Pulses d'adoption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446520" y="2660904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Radar réceptivité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446520" y="2916936"/>
            <a:ext cx="2468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</a:rPr>
              <a:t>• Playbooks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F293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667EEA">
              <a:alpha val="8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</a:rPr>
              <a:t>Prêt à Transformer votre PMO ?</a:t>
            </a:r>
            <a:endParaRPr lang="en-US" sz="5200" dirty="0"/>
          </a:p>
        </p:txBody>
      </p:sp>
      <p:sp>
        <p:nvSpPr>
          <p:cNvPr id="4" name="Shape 2"/>
          <p:cNvSpPr/>
          <p:nvPr/>
        </p:nvSpPr>
        <p:spPr>
          <a:xfrm>
            <a:off x="2286000" y="2926080"/>
            <a:ext cx="4572000" cy="91440"/>
          </a:xfrm>
          <a:prstGeom prst="rect">
            <a:avLst/>
          </a:prstGeom>
          <a:solidFill>
            <a:srgbClr val="667EEA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C3CFE2"/>
                </a:solidFill>
              </a:rPr>
              <a:t>Démonté simple • Intégration rapide • Support dédié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3931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9CA3AF"/>
                </a:solidFill>
              </a:rPr>
              <a:t>Contactez notre équipe pour une démonstration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2026-07-21T09:42:36Z</dcterms:created>
  <dcterms:modified xsi:type="dcterms:W3CDTF">2026-07-21T09:42:36Z</dcterms:modified>
</cp:coreProperties>
</file>